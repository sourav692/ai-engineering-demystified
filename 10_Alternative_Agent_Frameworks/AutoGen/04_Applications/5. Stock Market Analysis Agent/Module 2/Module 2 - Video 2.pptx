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ienSvdxnT253KLdp5lGdcf0ng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8CF264-61B8-4F97-BAF2-4DB170E7D9C5}">
  <a:tblStyle styleId="{3F8CF264-61B8-4F97-BAF2-4DB170E7D9C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fill>
          <a:solidFill>
            <a:srgbClr val="E0E0E0"/>
          </a:solidFill>
        </a:fill>
      </a:tcStyle>
    </a:band1H>
    <a:band2H>
      <a:tcTxStyle/>
    </a:band2H>
    <a:band1V>
      <a:tcTxStyle/>
      <a:tcStyle>
        <a:fill>
          <a:solidFill>
            <a:srgbClr val="E0E0E0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IN"/>
              <a:t>Exploring how AI agents revolutionize stock analysis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Module 2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Introduction to AI Agents &amp; Stock Market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End-to-End Architecture Overview</a:t>
            </a:r>
            <a:endParaRPr b="1"/>
          </a:p>
        </p:txBody>
      </p:sp>
      <p:grpSp>
        <p:nvGrpSpPr>
          <p:cNvPr id="96" name="Google Shape;96;p2"/>
          <p:cNvGrpSpPr/>
          <p:nvPr/>
        </p:nvGrpSpPr>
        <p:grpSpPr>
          <a:xfrm>
            <a:off x="806493" y="1690688"/>
            <a:ext cx="10579014" cy="4638390"/>
            <a:chOff x="806493" y="1690688"/>
            <a:chExt cx="10579014" cy="4638390"/>
          </a:xfrm>
        </p:grpSpPr>
        <p:pic>
          <p:nvPicPr>
            <p:cNvPr id="97" name="Google Shape;9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8200" y="1690688"/>
              <a:ext cx="10547307" cy="46383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2"/>
            <p:cNvPicPr preferRelativeResize="0"/>
            <p:nvPr/>
          </p:nvPicPr>
          <p:blipFill rotWithShape="1">
            <a:blip r:embed="rId4">
              <a:alphaModFix/>
            </a:blip>
            <a:srcRect b="37537" l="8783" r="11040" t="32647"/>
            <a:stretch/>
          </p:blipFill>
          <p:spPr>
            <a:xfrm>
              <a:off x="9659007" y="2681795"/>
              <a:ext cx="809295" cy="1875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6493" y="3585610"/>
              <a:ext cx="650059" cy="6500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ython programming logo on transparent background PNG" id="100" name="Google Shape;100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3917" y="5541579"/>
              <a:ext cx="524203" cy="5242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30565" y="2200918"/>
              <a:ext cx="321566" cy="3215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91348" y="4522829"/>
              <a:ext cx="321566" cy="3215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System Components &amp; Stack</a:t>
            </a:r>
            <a:endParaRPr/>
          </a:p>
        </p:txBody>
      </p:sp>
      <p:graphicFrame>
        <p:nvGraphicFramePr>
          <p:cNvPr id="108" name="Google Shape;108;p3"/>
          <p:cNvGraphicFramePr/>
          <p:nvPr/>
        </p:nvGraphicFramePr>
        <p:xfrm>
          <a:off x="367862" y="1488829"/>
          <a:ext cx="3000000" cy="3000000"/>
        </p:xfrm>
        <a:graphic>
          <a:graphicData uri="http://schemas.openxmlformats.org/drawingml/2006/table">
            <a:tbl>
              <a:tblPr firstCol="1" firstRow="1">
                <a:noFill/>
                <a:tableStyleId>{3F8CF264-61B8-4F97-BAF2-4DB170E7D9C5}</a:tableStyleId>
              </a:tblPr>
              <a:tblGrid>
                <a:gridCol w="3505200"/>
                <a:gridCol w="3505200"/>
                <a:gridCol w="444587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u="none" cap="none" strike="noStrike"/>
                        <a:t>Component</a:t>
                      </a:r>
                      <a:endParaRPr b="1" sz="1400"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Primary Tech</a:t>
                      </a:r>
                      <a:endParaRPr b="1" sz="1400"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Alternates</a:t>
                      </a:r>
                      <a:endParaRPr b="1" sz="1400"/>
                    </a:p>
                  </a:txBody>
                  <a:tcPr marT="45325" marB="45325" marR="90650" marL="90650" anchor="ctr"/>
                </a:tc>
              </a:tr>
              <a:tr h="60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Frontend/UI</a:t>
                      </a:r>
                      <a:endParaRPr b="1" sz="1400"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Streamlit + Python 🐍⚡</a:t>
                      </a:r>
                      <a:endParaRPr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React.js + Flask, Gradio, Dash</a:t>
                      </a:r>
                      <a:endParaRPr/>
                    </a:p>
                  </a:txBody>
                  <a:tcPr marT="45325" marB="45325" marR="90650" marL="90650" anchor="ctr"/>
                </a:tc>
              </a:tr>
              <a:tr h="6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Deployment</a:t>
                      </a:r>
                      <a:endParaRPr b="1" sz="1400"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Streamlit Community Cloud ☁️</a:t>
                      </a:r>
                      <a:endParaRPr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Azure App Service, AWS EC2, Vercel</a:t>
                      </a:r>
                      <a:endParaRPr/>
                    </a:p>
                  </a:txBody>
                  <a:tcPr marT="45325" marB="45325" marR="90650" marL="90650" anchor="ctr"/>
                </a:tc>
              </a:tr>
              <a:tr h="547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Codebase</a:t>
                      </a:r>
                      <a:endParaRPr b="1" sz="1400"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GitHub 📁</a:t>
                      </a:r>
                      <a:endParaRPr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GitLab, Bitbucket</a:t>
                      </a:r>
                      <a:endParaRPr/>
                    </a:p>
                  </a:txBody>
                  <a:tcPr marT="45325" marB="45325" marR="90650" marL="90650" anchor="ctr"/>
                </a:tc>
              </a:tr>
              <a:tr h="6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Orchestrator</a:t>
                      </a:r>
                      <a:endParaRPr b="1" sz="1400"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AutoGen AG 🧠</a:t>
                      </a:r>
                      <a:endParaRPr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LangChain, CrewAI, Haystack Agents</a:t>
                      </a:r>
                      <a:endParaRPr/>
                    </a:p>
                  </a:txBody>
                  <a:tcPr marT="45325" marB="45325" marR="90650" marL="90650" anchor="ctr"/>
                </a:tc>
              </a:tr>
              <a:tr h="6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Agent Layer</a:t>
                      </a:r>
                      <a:endParaRPr b="1" sz="1400"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Modular Python Agents 🤖</a:t>
                      </a:r>
                      <a:endParaRPr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LangGraph, HuggingGPT, Custom FSMs</a:t>
                      </a:r>
                      <a:endParaRPr/>
                    </a:p>
                  </a:txBody>
                  <a:tcPr marT="45325" marB="45325" marR="90650" marL="90650" anchor="ctr"/>
                </a:tc>
              </a:tr>
              <a:tr h="6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Toolbox Layer</a:t>
                      </a:r>
                      <a:endParaRPr b="1" sz="1400"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Python Modules + yFinance Integration 🛠</a:t>
                      </a:r>
                      <a:endParaRPr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Alpha Vantage, Finnhub, Twelve Data</a:t>
                      </a:r>
                      <a:endParaRPr/>
                    </a:p>
                  </a:txBody>
                  <a:tcPr marT="45325" marB="45325" marR="90650" marL="90650" anchor="ctr"/>
                </a:tc>
              </a:tr>
              <a:tr h="359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Data Source</a:t>
                      </a:r>
                      <a:endParaRPr b="1" sz="1400"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yFinance API 💹</a:t>
                      </a:r>
                      <a:endParaRPr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Polygon.io, IEX Cloud, Quandl</a:t>
                      </a:r>
                      <a:endParaRPr/>
                    </a:p>
                  </a:txBody>
                  <a:tcPr marT="45325" marB="45325" marR="90650" marL="90650" anchor="ctr"/>
                </a:tc>
              </a:tr>
              <a:tr h="6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LLM</a:t>
                      </a:r>
                      <a:endParaRPr b="1" sz="1400"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OpenAI GPT 🧠</a:t>
                      </a:r>
                      <a:endParaRPr/>
                    </a:p>
                  </a:txBody>
                  <a:tcPr marT="45325" marB="45325" marR="90650" marL="906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/>
                        <a:t>Anthropic Claude, Mistral, Cohere, LLama2</a:t>
                      </a:r>
                      <a:endParaRPr/>
                    </a:p>
                  </a:txBody>
                  <a:tcPr marT="45325" marB="45325" marR="90650" marL="9065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2025-06-08T18:26:10Z</dcterms:created>
  <dc:creator>Nitin</dc:creator>
</cp:coreProperties>
</file>