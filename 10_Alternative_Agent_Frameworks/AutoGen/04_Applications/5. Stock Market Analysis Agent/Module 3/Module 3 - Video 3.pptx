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59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40" autoAdjust="0"/>
  </p:normalViewPr>
  <p:slideViewPr>
    <p:cSldViewPr snapToGrid="0">
      <p:cViewPr varScale="1">
        <p:scale>
          <a:sx n="85" d="100"/>
          <a:sy n="8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393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833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to Plan Agent Roles:</a:t>
            </a:r>
            <a:endParaRPr lang="en-US" dirty="0"/>
          </a:p>
          <a:p>
            <a:r>
              <a:rPr lang="en-US" b="1" dirty="0"/>
              <a:t>Before coding orchestration logic</a:t>
            </a:r>
            <a:endParaRPr lang="en-US" dirty="0"/>
          </a:p>
          <a:p>
            <a:r>
              <a:rPr lang="en-US" b="1" dirty="0"/>
              <a:t>When multiple skills/tools are involved</a:t>
            </a:r>
            <a:endParaRPr lang="en-US" dirty="0"/>
          </a:p>
          <a:p>
            <a:r>
              <a:rPr lang="en-US" b="1" dirty="0"/>
              <a:t>When output requires sequential reasoning or aggregation</a:t>
            </a:r>
            <a:endParaRPr lang="en-US" dirty="0"/>
          </a:p>
          <a:p>
            <a:r>
              <a:rPr lang="en-US" b="1" dirty="0"/>
              <a:t>During architecture design of multi-agent systems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23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to Plan Agent Roles:</a:t>
            </a:r>
            <a:endParaRPr lang="en-US" dirty="0"/>
          </a:p>
          <a:p>
            <a:r>
              <a:rPr lang="en-US" b="1" dirty="0"/>
              <a:t>Before coding orchestration logic</a:t>
            </a:r>
            <a:endParaRPr lang="en-US" dirty="0"/>
          </a:p>
          <a:p>
            <a:r>
              <a:rPr lang="en-US" b="1" dirty="0"/>
              <a:t>When multiple skills/tools are involved</a:t>
            </a:r>
            <a:endParaRPr lang="en-US" dirty="0"/>
          </a:p>
          <a:p>
            <a:r>
              <a:rPr lang="en-US" b="1" dirty="0"/>
              <a:t>When output requires sequential reasoning or aggregation</a:t>
            </a:r>
            <a:endParaRPr lang="en-US" dirty="0"/>
          </a:p>
          <a:p>
            <a:r>
              <a:rPr lang="en-US" b="1" dirty="0"/>
              <a:t>During architecture design of multi-agent systems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151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21-06-2025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3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Building AI Agents with </a:t>
            </a:r>
            <a:r>
              <a:rPr lang="en-US" dirty="0" err="1"/>
              <a:t>AutoGen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7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DD74F-FD98-4C82-8C06-EBA2D3778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 and Tools for Financial Analysis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FBB63-25D2-40C6-8D2B-3438AD6F2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8" y="1557124"/>
            <a:ext cx="11797143" cy="48021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3226BD6-76B4-4637-8FEA-DE031DE935B4}"/>
              </a:ext>
            </a:extLst>
          </p:cNvPr>
          <p:cNvSpPr/>
          <p:nvPr/>
        </p:nvSpPr>
        <p:spPr>
          <a:xfrm>
            <a:off x="6947647" y="3886047"/>
            <a:ext cx="2698377" cy="851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0B0AD-CFD5-4B6B-8A78-BEF1ECFC2D61}"/>
              </a:ext>
            </a:extLst>
          </p:cNvPr>
          <p:cNvSpPr/>
          <p:nvPr/>
        </p:nvSpPr>
        <p:spPr>
          <a:xfrm>
            <a:off x="4984374" y="5441575"/>
            <a:ext cx="4419601" cy="6992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71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3 – Strategy Agent</a:t>
            </a:r>
            <a:endParaRPr lang="en-US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B8F92B-56DC-4A66-B798-6CB2469796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0117"/>
            <a:ext cx="7853737" cy="30777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Role: Recommend Buy/Sell/Hold actions and assess risk</a:t>
            </a:r>
          </a:p>
          <a:p>
            <a:r>
              <a:rPr lang="en-US" altLang="en-US" sz="1600" dirty="0"/>
              <a:t>Responsibilities:</a:t>
            </a:r>
          </a:p>
          <a:p>
            <a:pPr lvl="1"/>
            <a:r>
              <a:rPr lang="en-US" altLang="en-US" sz="1600" dirty="0"/>
              <a:t>Analyze trading signals: MACD, RSI, Last Close</a:t>
            </a:r>
          </a:p>
          <a:p>
            <a:pPr lvl="1"/>
            <a:r>
              <a:rPr lang="en-US" altLang="en-US" sz="1600" dirty="0"/>
              <a:t>Evaluate risk: Volatility, Beta, Dividend Yield</a:t>
            </a:r>
          </a:p>
          <a:p>
            <a:pPr lvl="1"/>
            <a:r>
              <a:rPr lang="en-US" altLang="en-US" sz="1600" dirty="0"/>
              <a:t>Provide rationale behind recommendation</a:t>
            </a:r>
          </a:p>
          <a:p>
            <a:r>
              <a:rPr lang="en-US" altLang="en-US" sz="1600" dirty="0"/>
              <a:t>Decision Logic:</a:t>
            </a:r>
          </a:p>
          <a:p>
            <a:pPr lvl="1"/>
            <a:r>
              <a:rPr lang="en-US" altLang="en-US" sz="1600" dirty="0"/>
              <a:t>Buy if MACD &gt; Signal and RSI &lt; 70</a:t>
            </a:r>
          </a:p>
          <a:p>
            <a:pPr lvl="1"/>
            <a:r>
              <a:rPr lang="en-US" altLang="en-US" sz="1600" dirty="0"/>
              <a:t>Sell if MACD &lt; Signal or RSI &gt; 70</a:t>
            </a:r>
          </a:p>
          <a:p>
            <a:pPr lvl="1"/>
            <a:r>
              <a:rPr lang="en-US" altLang="en-US" sz="1600" dirty="0"/>
              <a:t>Hold if indicators are conflicting</a:t>
            </a:r>
          </a:p>
          <a:p>
            <a:r>
              <a:rPr lang="en-US" altLang="en-US" sz="1600" dirty="0"/>
              <a:t>Tools: </a:t>
            </a:r>
            <a:r>
              <a:rPr lang="en-US" altLang="en-US" sz="1600" dirty="0" err="1"/>
              <a:t>risk_assessment_tool</a:t>
            </a:r>
            <a:r>
              <a:rPr lang="en-US" altLang="en-US" sz="1600" dirty="0"/>
              <a:t>, </a:t>
            </a:r>
            <a:r>
              <a:rPr lang="en-US" altLang="en-US" sz="1600" dirty="0" err="1"/>
              <a:t>strategy_signal_tool</a:t>
            </a:r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8289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3: </a:t>
            </a:r>
            <a:r>
              <a:rPr lang="en-US" dirty="0" err="1"/>
              <a:t>risk_assessment_tool</a:t>
            </a:r>
            <a:r>
              <a:rPr lang="en-US" dirty="0"/>
              <a:t> </a:t>
            </a:r>
            <a:endParaRPr lang="en-US" sz="1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DBAC2-F1E4-4087-BA1F-FD0F11D4DE32}"/>
              </a:ext>
            </a:extLst>
          </p:cNvPr>
          <p:cNvSpPr/>
          <p:nvPr/>
        </p:nvSpPr>
        <p:spPr>
          <a:xfrm>
            <a:off x="6870844" y="1825625"/>
            <a:ext cx="4482956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IN" sz="1200" dirty="0">
                <a:latin typeface="Consolas" panose="020B0609020204030204" pitchFamily="49" charset="0"/>
              </a:rPr>
              <a:t>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"name": "</a:t>
            </a:r>
            <a:r>
              <a:rPr lang="en-IN" sz="1200" dirty="0" err="1">
                <a:latin typeface="Consolas" panose="020B0609020204030204" pitchFamily="49" charset="0"/>
              </a:rPr>
              <a:t>risk_assessment_tool</a:t>
            </a:r>
            <a:r>
              <a:rPr lang="en-IN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"data": {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"Beta": 1.15,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MarketCap</a:t>
            </a:r>
            <a:r>
              <a:rPr lang="en-IN" sz="1200" dirty="0">
                <a:latin typeface="Consolas" panose="020B0609020204030204" pitchFamily="49" charset="0"/>
              </a:rPr>
              <a:t>": 3000000000000,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DividendYield</a:t>
            </a:r>
            <a:r>
              <a:rPr lang="en-IN" sz="1200" dirty="0">
                <a:latin typeface="Consolas" panose="020B0609020204030204" pitchFamily="49" charset="0"/>
              </a:rPr>
              <a:t>": 0.005,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"Volatility": 0.18,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  "</a:t>
            </a:r>
            <a:r>
              <a:rPr lang="en-IN" sz="1200" dirty="0" err="1">
                <a:latin typeface="Consolas" panose="020B0609020204030204" pitchFamily="49" charset="0"/>
              </a:rPr>
              <a:t>RiskRating</a:t>
            </a:r>
            <a:r>
              <a:rPr lang="en-IN" sz="1200" dirty="0">
                <a:latin typeface="Consolas" panose="020B0609020204030204" pitchFamily="49" charset="0"/>
              </a:rPr>
              <a:t>": "Moderate"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IN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9BAEBF-9A2E-4692-98CF-163EAFBA8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en-US" sz="1600" dirty="0"/>
              <a:t>Purpose: Analyze the stock’s risk profile</a:t>
            </a:r>
          </a:p>
          <a:p>
            <a:r>
              <a:rPr lang="en-US" altLang="en-US" sz="1600" dirty="0"/>
              <a:t>Metrics Extracted:</a:t>
            </a:r>
          </a:p>
          <a:p>
            <a:pPr lvl="1"/>
            <a:r>
              <a:rPr lang="en-US" altLang="en-US" sz="1200" dirty="0"/>
              <a:t>Beta (volatility)</a:t>
            </a:r>
          </a:p>
          <a:p>
            <a:pPr lvl="1"/>
            <a:r>
              <a:rPr lang="en-US" altLang="en-US" sz="1200" dirty="0"/>
              <a:t>Market Cap</a:t>
            </a:r>
          </a:p>
          <a:p>
            <a:pPr lvl="1"/>
            <a:r>
              <a:rPr lang="en-US" altLang="en-US" sz="1200" dirty="0"/>
              <a:t>Dividend Yield</a:t>
            </a:r>
          </a:p>
          <a:p>
            <a:pPr lvl="1"/>
            <a:r>
              <a:rPr lang="en-US" altLang="en-US" sz="1200" dirty="0"/>
              <a:t>52-week Change (Volatility proxy)</a:t>
            </a:r>
          </a:p>
          <a:p>
            <a:pPr lvl="1"/>
            <a:r>
              <a:rPr lang="en-US" altLang="en-US" sz="1200" dirty="0"/>
              <a:t>Risk Rating (High / Moderate / Low)</a:t>
            </a:r>
          </a:p>
          <a:p>
            <a:r>
              <a:rPr lang="en-US" altLang="en-US" sz="1600" dirty="0"/>
              <a:t>Used by: </a:t>
            </a:r>
            <a:r>
              <a:rPr lang="en-US" altLang="en-US" sz="1600" dirty="0" err="1"/>
              <a:t>strategy_agent</a:t>
            </a:r>
            <a:r>
              <a:rPr lang="en-US" altLang="en-US" sz="1600" dirty="0"/>
              <a:t> for risk-informed recommendations</a:t>
            </a:r>
          </a:p>
          <a:p>
            <a:r>
              <a:rPr lang="en-US" altLang="en-US" sz="1600" dirty="0"/>
              <a:t>Error Handling: Graceful fallback with error message in JSON</a:t>
            </a:r>
          </a:p>
          <a:p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24580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4:strategy_signal_tool </a:t>
            </a:r>
            <a:endParaRPr lang="en-US" sz="18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BDBAC2-F1E4-4087-BA1F-FD0F11D4DE32}"/>
              </a:ext>
            </a:extLst>
          </p:cNvPr>
          <p:cNvSpPr/>
          <p:nvPr/>
        </p:nvSpPr>
        <p:spPr>
          <a:xfrm>
            <a:off x="6870844" y="1825625"/>
            <a:ext cx="4482956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"name": "</a:t>
            </a:r>
            <a:r>
              <a:rPr lang="en-US" sz="1200" dirty="0" err="1">
                <a:latin typeface="Consolas" panose="020B0609020204030204" pitchFamily="49" charset="0"/>
              </a:rPr>
              <a:t>strategy_signal_tool</a:t>
            </a:r>
            <a:r>
              <a:rPr lang="en-US" sz="1200" dirty="0">
                <a:latin typeface="Consolas" panose="020B0609020204030204" pitchFamily="49" charset="0"/>
              </a:rPr>
              <a:t>",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"data": {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"MACD": 1.43,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 err="1">
                <a:latin typeface="Consolas" panose="020B0609020204030204" pitchFamily="49" charset="0"/>
              </a:rPr>
              <a:t>MACD_Signal</a:t>
            </a:r>
            <a:r>
              <a:rPr lang="en-US" sz="1200" dirty="0">
                <a:latin typeface="Consolas" panose="020B0609020204030204" pitchFamily="49" charset="0"/>
              </a:rPr>
              <a:t>": 1.12,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"RSI": 63.5,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  "</a:t>
            </a:r>
            <a:r>
              <a:rPr lang="en-US" sz="1200" dirty="0" err="1">
                <a:latin typeface="Consolas" panose="020B0609020204030204" pitchFamily="49" charset="0"/>
              </a:rPr>
              <a:t>Last_Close</a:t>
            </a:r>
            <a:r>
              <a:rPr lang="en-US" sz="1200" dirty="0">
                <a:latin typeface="Consolas" panose="020B0609020204030204" pitchFamily="49" charset="0"/>
              </a:rPr>
              <a:t>": 192.32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9BAEBF-9A2E-4692-98CF-163EAFBA8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/>
              <a:t>Purpose: </a:t>
            </a:r>
            <a:r>
              <a:rPr lang="en-IN" sz="1600" dirty="0"/>
              <a:t>Buy/Sell Signals</a:t>
            </a:r>
            <a:r>
              <a:rPr lang="en-US" sz="1600" dirty="0"/>
              <a:t> - Support decision-making </a:t>
            </a:r>
          </a:p>
          <a:p>
            <a:r>
              <a:rPr lang="en-US" sz="1600" dirty="0"/>
              <a:t>Indicators Used:</a:t>
            </a:r>
          </a:p>
          <a:p>
            <a:pPr lvl="1"/>
            <a:r>
              <a:rPr lang="en-US" sz="1200" dirty="0"/>
              <a:t>MACD (Momentum)</a:t>
            </a:r>
          </a:p>
          <a:p>
            <a:pPr lvl="1"/>
            <a:r>
              <a:rPr lang="en-US" sz="1200" dirty="0"/>
              <a:t>MACD Signal Line</a:t>
            </a:r>
          </a:p>
          <a:p>
            <a:pPr lvl="1"/>
            <a:r>
              <a:rPr lang="en-US" sz="1200" dirty="0"/>
              <a:t>RSI</a:t>
            </a:r>
          </a:p>
          <a:p>
            <a:pPr lvl="1"/>
            <a:r>
              <a:rPr lang="en-US" sz="1200" dirty="0"/>
              <a:t>Last close price</a:t>
            </a:r>
          </a:p>
          <a:p>
            <a:r>
              <a:rPr lang="en-US" sz="1600" dirty="0"/>
              <a:t>Used by: </a:t>
            </a:r>
            <a:r>
              <a:rPr lang="en-US" sz="1600" dirty="0" err="1"/>
              <a:t>strategy_agent</a:t>
            </a:r>
            <a:r>
              <a:rPr lang="en-US" sz="1600" dirty="0"/>
              <a:t> for buy/sell/hold recommendations</a:t>
            </a:r>
          </a:p>
          <a:p>
            <a:r>
              <a:rPr lang="en-US" altLang="en-US" sz="1600" dirty="0"/>
              <a:t>Error Handling: Graceful fallback with error message in JSON</a:t>
            </a:r>
          </a:p>
          <a:p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93370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371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Module 3</vt:lpstr>
      <vt:lpstr>Agents and Tools for Financial Analysis </vt:lpstr>
      <vt:lpstr>Agent 3 – Strategy Agent</vt:lpstr>
      <vt:lpstr>Tool 3: risk_assessment_tool </vt:lpstr>
      <vt:lpstr>Tool 4:strategy_signal_tool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27</cp:revision>
  <dcterms:created xsi:type="dcterms:W3CDTF">2025-06-08T18:26:10Z</dcterms:created>
  <dcterms:modified xsi:type="dcterms:W3CDTF">2025-06-21T10:39:58Z</dcterms:modified>
</cp:coreProperties>
</file>